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19" autoAdjust="0"/>
  </p:normalViewPr>
  <p:slideViewPr>
    <p:cSldViewPr snapToGrid="0">
      <p:cViewPr>
        <p:scale>
          <a:sx n="50" d="100"/>
          <a:sy n="50" d="100"/>
        </p:scale>
        <p:origin x="193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6E292-227B-46A7-88EF-BC7F3A2C342C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35F79-55BC-4E89-99F3-73725E047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50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35F79-55BC-4E89-99F3-73725E04702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38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CABEB-8549-4E2D-9C2F-D8DB31943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D5DF33-CE1C-4CB6-8524-FAC404AC3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DD72F6-41D6-40D4-9034-12FBED73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5958E-BA13-43AA-A93A-5B19C2CD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0EB483-ACFD-4353-B18D-78C25053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91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15B17-1174-49B9-A9A6-4413F95E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39B20D-C978-4C8A-B08C-C614E314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1A634-ABF1-4B73-8940-1795AE71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3E2C8-65AC-41AD-BF34-71421AB4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A53B11-9EE4-4279-902A-F4537F0A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88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C5BB8-DB13-429B-82EA-F7845891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D31CDE-A75E-4E10-9597-804B750FD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C9D8E-F4F6-4E26-BB68-4835EC72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4A59A-C1C3-42D5-B422-62CDFC1E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9DFAD8-F999-4D46-B37C-003D8FC1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00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76216-6396-49F0-88EB-17E23203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9D861-C657-4582-A72A-E18B98C44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AB4473-775F-498C-9E83-583EB087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D6D233-E242-4F88-A7C8-CAF6AC08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E09C3F-A144-4761-A27E-80E08DC3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B53184-E21F-43EF-B953-BD332C80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11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EF0A0-470C-485F-95C3-6E204E57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0B49CD-A3DB-4D81-8415-79B1F5BC4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1F9F10-06C1-42C0-95C4-4234B92EA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F68D85-570D-4C08-A011-5CDD9C1BE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331A0F-FCD9-4A4D-989F-E02886772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113CBC-A513-439A-A333-A0949580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DFA4C4-1E30-4BE1-B4D3-6A698C2E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66B6C3-C8F5-4B7E-ADB7-D81F3432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0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25DD7-686E-49FE-A4FF-85477770E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FAC6F7-46D5-4AD5-AB4A-748CE884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0E2AB3-6C76-4F53-BFEF-B4DC289F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72A5DC-B649-4704-8084-F9C9DF86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20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DFB16E-4E0C-40C4-BEEF-71BDB985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C62AC6-13B4-4792-A6E8-19D90472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C1EA9-65D6-4DD9-BA6E-D7C918FD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8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72169-45B9-47DF-B1AC-043B6477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43356-8F4B-42ED-8C6D-C646CCCCC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4D561B-55C7-42D3-9221-0F4D1D52D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3F6BC3-1EBF-4796-9750-159948DC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C26E0D-DB34-4390-A942-C7E830F1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B52BA4-EE47-4EFA-A801-286FFAD0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52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CB959-0F9A-455A-BD8F-72CC9472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6616CC-D45B-4FEA-9E1E-28266E7B7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0940A6-F4E3-4BBA-B3C7-9F2022C9B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662F45-C494-40E2-A471-BAEC4618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A35D27-D565-472E-A648-A60A4BA1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9FBB3F-2C4F-4662-9EAD-CCA30F71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27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46A89-D200-4585-B463-981EB681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7092CB-8057-49E4-B625-2B899E8DF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44B34-F60D-4253-A49F-146A2193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9001B-F156-4C7F-A0DD-12F2E784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CBD1-5B8F-4861-A789-B4D11A6F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48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B7AFA1-6027-4BF2-AFF2-971BA8E55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C01F08-1BF4-41F8-B856-5ECBCCFD8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4112D-431A-4676-B001-E3BA1195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D90ACB-2D53-4121-8408-B50C9E8D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096C1-FE0F-41F9-A7C8-6F3512F7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12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1D3FA0-AE31-4C00-867C-BA86C41C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9B6B04-4CFF-437B-AF22-E014C443E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A4D8A7-FF6B-474F-8735-401F06403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943C1-0281-4DCB-AF2C-4FC521A51B4E}" type="datetimeFigureOut">
              <a:rPr lang="ko-KR" altLang="en-US" smtClean="0"/>
              <a:t>2021-11-23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995B8-A4C3-4F6E-9D01-1B0F56B87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76C61B-E544-4CFD-8343-0DD6944E0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A33AC-AD77-4925-9253-7B8857252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86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2878D-5188-41DA-A842-2FC522FFF653}"/>
              </a:ext>
            </a:extLst>
          </p:cNvPr>
          <p:cNvSpPr txBox="1"/>
          <p:nvPr/>
        </p:nvSpPr>
        <p:spPr>
          <a:xfrm>
            <a:off x="256673" y="160385"/>
            <a:ext cx="59756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ko-KR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ko-KR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Analysis Project (2021)</a:t>
            </a:r>
            <a:endParaRPr lang="ko-KR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30032-F7A3-4012-BF6E-64929D35725A}"/>
              </a:ext>
            </a:extLst>
          </p:cNvPr>
          <p:cNvSpPr txBox="1"/>
          <p:nvPr/>
        </p:nvSpPr>
        <p:spPr>
          <a:xfrm>
            <a:off x="256673" y="802069"/>
            <a:ext cx="5839327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ko-KR" altLang="en-US" dirty="0"/>
              <a:t>성명</a:t>
            </a:r>
            <a:r>
              <a:rPr lang="en-US" altLang="ko-KR" dirty="0"/>
              <a:t>: </a:t>
            </a:r>
            <a:r>
              <a:rPr lang="ko-KR" altLang="en-US" dirty="0"/>
              <a:t>마민경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학번</a:t>
            </a:r>
            <a:r>
              <a:rPr lang="en-US" altLang="ko-KR" dirty="0"/>
              <a:t>: 12191890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DE516-A684-4415-984A-F3BA9F5A8655}"/>
              </a:ext>
            </a:extLst>
          </p:cNvPr>
          <p:cNvSpPr txBox="1"/>
          <p:nvPr/>
        </p:nvSpPr>
        <p:spPr>
          <a:xfrm>
            <a:off x="320841" y="2456662"/>
            <a:ext cx="4732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 ( Layer Thickness 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9D636-073E-4161-8943-58806530A30F}"/>
              </a:ext>
            </a:extLst>
          </p:cNvPr>
          <p:cNvSpPr txBox="1"/>
          <p:nvPr/>
        </p:nvSpPr>
        <p:spPr>
          <a:xfrm>
            <a:off x="320842" y="1966828"/>
            <a:ext cx="658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분석 결과 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99652-1B02-4E10-83BC-83B3192942AE}"/>
              </a:ext>
            </a:extLst>
          </p:cNvPr>
          <p:cNvSpPr txBox="1"/>
          <p:nvPr/>
        </p:nvSpPr>
        <p:spPr>
          <a:xfrm>
            <a:off x="251075" y="4619061"/>
            <a:ext cx="324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2 ( Loan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D406D-D8E9-435C-9C50-FB24AF14ADB6}"/>
              </a:ext>
            </a:extLst>
          </p:cNvPr>
          <p:cNvSpPr txBox="1"/>
          <p:nvPr/>
        </p:nvSpPr>
        <p:spPr>
          <a:xfrm>
            <a:off x="795605" y="2825994"/>
            <a:ext cx="1024529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m = 20 , n = 4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Out-of-Control : #18 , 3-sigma limit</a:t>
            </a:r>
            <a:r>
              <a:rPr lang="ko-KR" altLang="en-US" b="1" dirty="0"/>
              <a:t> 벗어남 → 제외하고 </a:t>
            </a:r>
            <a:r>
              <a:rPr lang="en-US" altLang="ko-KR" b="1" dirty="0"/>
              <a:t>Control Limit </a:t>
            </a:r>
            <a:r>
              <a:rPr lang="ko-KR" altLang="en-US" b="1" dirty="0"/>
              <a:t>계산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/>
              <a:t>최종 </a:t>
            </a:r>
            <a:r>
              <a:rPr lang="en-US" altLang="ko-KR" b="1" dirty="0"/>
              <a:t>Control Limit ( X-bar chart ) : Control Limit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448.69(CL), 460.82(UCL), 436.56(LCL)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/>
              <a:t>최종 </a:t>
            </a:r>
            <a:r>
              <a:rPr lang="en-US" altLang="ko-KR" b="1" dirty="0"/>
              <a:t>Control Limit ( R - chart ) :  Control Limit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16.74(CL), 38.19(UCL), 0(LCL)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81BEB-C4E4-4774-9168-98089602310E}"/>
              </a:ext>
            </a:extLst>
          </p:cNvPr>
          <p:cNvSpPr txBox="1"/>
          <p:nvPr/>
        </p:nvSpPr>
        <p:spPr>
          <a:xfrm>
            <a:off x="795603" y="4988393"/>
            <a:ext cx="10731674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m = 20, </a:t>
            </a:r>
            <a:r>
              <a:rPr lang="en-US" altLang="ko-KR" b="1" dirty="0" err="1"/>
              <a:t>n_i</a:t>
            </a:r>
            <a:r>
              <a:rPr lang="en-US" altLang="ko-KR" b="1" dirty="0"/>
              <a:t> = Loan ( variable sample size 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- Out-of-Control : #12, #15, 3-sigma limit</a:t>
            </a:r>
            <a:r>
              <a:rPr lang="ko-KR" altLang="en-US" b="1" dirty="0"/>
              <a:t> 벗어남 → 제외하고 </a:t>
            </a:r>
            <a:r>
              <a:rPr lang="en-US" altLang="ko-KR" b="1" dirty="0"/>
              <a:t>Control Limit </a:t>
            </a:r>
            <a:r>
              <a:rPr lang="ko-KR" altLang="en-US" b="1" dirty="0"/>
              <a:t>계산</a:t>
            </a:r>
            <a:r>
              <a:rPr lang="en-US" altLang="ko-KR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- </a:t>
            </a:r>
            <a:r>
              <a:rPr lang="ko-KR" altLang="en-US" b="1" dirty="0"/>
              <a:t>최종 </a:t>
            </a:r>
            <a:r>
              <a:rPr lang="en-US" altLang="ko-KR" b="1" dirty="0"/>
              <a:t>Control Limit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0.0134(CL), 0.0349(UCL), 0(LCL)</a:t>
            </a:r>
          </a:p>
        </p:txBody>
      </p:sp>
    </p:spTree>
    <p:extLst>
      <p:ext uri="{BB962C8B-B14F-4D97-AF65-F5344CB8AC3E}">
        <p14:creationId xmlns:p14="http://schemas.microsoft.com/office/powerpoint/2010/main" val="12106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7DE516-A684-4415-984A-F3BA9F5A8655}"/>
              </a:ext>
            </a:extLst>
          </p:cNvPr>
          <p:cNvSpPr txBox="1"/>
          <p:nvPr/>
        </p:nvSpPr>
        <p:spPr>
          <a:xfrm>
            <a:off x="272714" y="176463"/>
            <a:ext cx="4732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 ( Layer Thickness )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CC972F-4031-4061-89BE-5DCD0E90C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545795"/>
            <a:ext cx="5239113" cy="34927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164468-8113-47BE-9084-FD286DB8D9C1}"/>
              </a:ext>
            </a:extLst>
          </p:cNvPr>
          <p:cNvSpPr txBox="1"/>
          <p:nvPr/>
        </p:nvSpPr>
        <p:spPr>
          <a:xfrm>
            <a:off x="529389" y="489341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 – a ) </a:t>
            </a:r>
            <a:endParaRPr lang="ko-KR" altLang="en-US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C9F6E8D-BA06-49A6-BA54-E99C9FAE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091" y="1690737"/>
            <a:ext cx="5886450" cy="1619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ABD052-76AE-4EBA-9AF2-547F2FE73091}"/>
              </a:ext>
            </a:extLst>
          </p:cNvPr>
          <p:cNvSpPr txBox="1"/>
          <p:nvPr/>
        </p:nvSpPr>
        <p:spPr>
          <a:xfrm>
            <a:off x="654216" y="4224759"/>
            <a:ext cx="104750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X-bar Chart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데이터들이 평균 주변에 밀집해 있는 경향을 확인할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증가 감소를 반복하는 </a:t>
            </a:r>
            <a:r>
              <a:rPr lang="en-US" altLang="ko-KR" dirty="0"/>
              <a:t>Cycle</a:t>
            </a:r>
            <a:r>
              <a:rPr lang="ko-KR" altLang="en-US" dirty="0"/>
              <a:t>이 있음을 확인할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- 18</a:t>
            </a:r>
            <a:r>
              <a:rPr lang="ko-KR" altLang="en-US" dirty="0"/>
              <a:t>번째 샘플에서 </a:t>
            </a:r>
            <a:r>
              <a:rPr lang="en-US" altLang="ko-KR" dirty="0"/>
              <a:t>3-sigma</a:t>
            </a:r>
            <a:r>
              <a:rPr lang="ko-KR" altLang="en-US" dirty="0"/>
              <a:t>를 벗어나는 </a:t>
            </a:r>
            <a:r>
              <a:rPr lang="en-US" altLang="ko-KR" dirty="0"/>
              <a:t>out of control</a:t>
            </a:r>
            <a:r>
              <a:rPr lang="ko-KR" altLang="en-US" dirty="0"/>
              <a:t>이 발생했다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 </a:t>
            </a:r>
            <a:r>
              <a:rPr lang="en-US" altLang="ko-KR" u="sng" dirty="0"/>
              <a:t>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448.69(CL), 460.82(UCL), 436.56(LCL)</a:t>
            </a:r>
          </a:p>
          <a:p>
            <a:r>
              <a:rPr lang="en-US" altLang="ko-KR" b="1" dirty="0"/>
              <a:t>R</a:t>
            </a:r>
            <a:r>
              <a:rPr lang="ko-KR" altLang="en-US" b="1" dirty="0"/>
              <a:t> </a:t>
            </a:r>
            <a:r>
              <a:rPr lang="en-US" altLang="ko-KR" b="1" dirty="0"/>
              <a:t>- Chart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평균을 중심으로 잘 분포해 있으며</a:t>
            </a:r>
            <a:r>
              <a:rPr lang="en-US" altLang="ko-KR" dirty="0"/>
              <a:t>, </a:t>
            </a:r>
            <a:r>
              <a:rPr lang="ko-KR" altLang="en-US" dirty="0"/>
              <a:t>모두 </a:t>
            </a:r>
            <a:r>
              <a:rPr lang="en-US" altLang="ko-KR" dirty="0"/>
              <a:t>in-control</a:t>
            </a:r>
            <a:r>
              <a:rPr lang="ko-KR" altLang="en-US" dirty="0"/>
              <a:t>임을 확인할 수 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u="sng" dirty="0"/>
              <a:t>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16.64(CL), 37.99(UCL), 0(LCL)</a:t>
            </a:r>
          </a:p>
        </p:txBody>
      </p:sp>
    </p:spTree>
    <p:extLst>
      <p:ext uri="{BB962C8B-B14F-4D97-AF65-F5344CB8AC3E}">
        <p14:creationId xmlns:p14="http://schemas.microsoft.com/office/powerpoint/2010/main" val="298958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04E8580-BE64-4B41-84C6-FE15288A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775641"/>
            <a:ext cx="5468720" cy="3645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DE516-A684-4415-984A-F3BA9F5A8655}"/>
              </a:ext>
            </a:extLst>
          </p:cNvPr>
          <p:cNvSpPr txBox="1"/>
          <p:nvPr/>
        </p:nvSpPr>
        <p:spPr>
          <a:xfrm>
            <a:off x="272714" y="176463"/>
            <a:ext cx="4732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 ( Layer Thickness ) , #18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제외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64468-8113-47BE-9084-FD286DB8D9C1}"/>
              </a:ext>
            </a:extLst>
          </p:cNvPr>
          <p:cNvSpPr txBox="1"/>
          <p:nvPr/>
        </p:nvSpPr>
        <p:spPr>
          <a:xfrm>
            <a:off x="529389" y="732409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 – a ) </a:t>
            </a:r>
            <a:endParaRPr lang="ko-KR" altLang="en-US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C9F6E8D-BA06-49A6-BA54-E99C9FAE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1962988"/>
            <a:ext cx="5886450" cy="1619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ABD052-76AE-4EBA-9AF2-547F2FE73091}"/>
              </a:ext>
            </a:extLst>
          </p:cNvPr>
          <p:cNvSpPr txBox="1"/>
          <p:nvPr/>
        </p:nvSpPr>
        <p:spPr>
          <a:xfrm>
            <a:off x="625033" y="4651300"/>
            <a:ext cx="104750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X-bar Chart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제외한 </a:t>
            </a:r>
            <a:r>
              <a:rPr lang="en-US" altLang="ko-KR" dirty="0"/>
              <a:t>18</a:t>
            </a:r>
            <a:r>
              <a:rPr lang="ko-KR" altLang="en-US" dirty="0"/>
              <a:t>번째 샘플을 제외하고는 모두 </a:t>
            </a:r>
            <a:r>
              <a:rPr lang="en-US" altLang="ko-KR" dirty="0"/>
              <a:t>in-control</a:t>
            </a:r>
            <a:r>
              <a:rPr lang="ko-KR" altLang="en-US" dirty="0"/>
              <a:t>임을 확인할 수 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u="sng" dirty="0"/>
              <a:t>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449.68(CL), 461.88(UCL), 437.49(LCL)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이전에 비해 </a:t>
            </a:r>
            <a:r>
              <a:rPr lang="en-US" altLang="ko-KR" dirty="0"/>
              <a:t>Control Limit</a:t>
            </a:r>
            <a:r>
              <a:rPr lang="ko-KR" altLang="en-US" dirty="0"/>
              <a:t>이 모두 조금씩 증가했지만 </a:t>
            </a:r>
            <a:r>
              <a:rPr lang="en-US" altLang="ko-KR" dirty="0"/>
              <a:t>, </a:t>
            </a:r>
            <a:r>
              <a:rPr lang="ko-KR" altLang="en-US" dirty="0"/>
              <a:t>여전히 평균을 중심으로 밀집되어 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R</a:t>
            </a:r>
            <a:r>
              <a:rPr lang="ko-KR" altLang="en-US" b="1" dirty="0"/>
              <a:t> </a:t>
            </a:r>
            <a:r>
              <a:rPr lang="en-US" altLang="ko-KR" b="1" dirty="0"/>
              <a:t>- Chart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평균을 중심으로 잘 분포해 있으며</a:t>
            </a:r>
            <a:r>
              <a:rPr lang="en-US" altLang="ko-KR" dirty="0"/>
              <a:t>, </a:t>
            </a:r>
            <a:r>
              <a:rPr lang="ko-KR" altLang="en-US" dirty="0"/>
              <a:t>모두 </a:t>
            </a:r>
            <a:r>
              <a:rPr lang="en-US" altLang="ko-KR" dirty="0"/>
              <a:t>in-control</a:t>
            </a:r>
            <a:r>
              <a:rPr lang="ko-KR" altLang="en-US" dirty="0"/>
              <a:t>임을 확인할 수 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u="sng" dirty="0"/>
              <a:t>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16.74(CL), 38.19(UCL), 0(LCL)</a:t>
            </a:r>
          </a:p>
        </p:txBody>
      </p:sp>
    </p:spTree>
    <p:extLst>
      <p:ext uri="{BB962C8B-B14F-4D97-AF65-F5344CB8AC3E}">
        <p14:creationId xmlns:p14="http://schemas.microsoft.com/office/powerpoint/2010/main" val="322147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AD8AFFD-0197-40F1-944D-BD5BBDBBD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80" y="828203"/>
            <a:ext cx="5468720" cy="3645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DE516-A684-4415-984A-F3BA9F5A8655}"/>
              </a:ext>
            </a:extLst>
          </p:cNvPr>
          <p:cNvSpPr txBox="1"/>
          <p:nvPr/>
        </p:nvSpPr>
        <p:spPr>
          <a:xfrm>
            <a:off x="272714" y="176463"/>
            <a:ext cx="4732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1 ( Layer Thickness ) , #18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제외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64468-8113-47BE-9084-FD286DB8D9C1}"/>
              </a:ext>
            </a:extLst>
          </p:cNvPr>
          <p:cNvSpPr txBox="1"/>
          <p:nvPr/>
        </p:nvSpPr>
        <p:spPr>
          <a:xfrm>
            <a:off x="529389" y="732409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 – b ) 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BD052-76AE-4EBA-9AF2-547F2FE73091}"/>
              </a:ext>
            </a:extLst>
          </p:cNvPr>
          <p:cNvSpPr txBox="1"/>
          <p:nvPr/>
        </p:nvSpPr>
        <p:spPr>
          <a:xfrm>
            <a:off x="625033" y="4651300"/>
            <a:ext cx="109496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X-bar Chart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추가 </a:t>
            </a:r>
            <a:r>
              <a:rPr lang="en-US" altLang="ko-KR" dirty="0"/>
              <a:t>10</a:t>
            </a:r>
            <a:r>
              <a:rPr lang="ko-KR" altLang="en-US" dirty="0"/>
              <a:t>개의 데이터에 대해 앞에서 선정한 </a:t>
            </a:r>
            <a:r>
              <a:rPr lang="en-US" altLang="ko-KR" dirty="0"/>
              <a:t>Control-Limit</a:t>
            </a:r>
            <a:r>
              <a:rPr lang="ko-KR" altLang="en-US" dirty="0"/>
              <a:t>을 적용한 결과</a:t>
            </a:r>
            <a:r>
              <a:rPr lang="en-US" altLang="ko-KR" dirty="0"/>
              <a:t>, </a:t>
            </a:r>
            <a:r>
              <a:rPr lang="ko-KR" altLang="en-US" dirty="0"/>
              <a:t>모두 </a:t>
            </a:r>
            <a:r>
              <a:rPr lang="en-US" altLang="ko-KR" dirty="0"/>
              <a:t>in-control</a:t>
            </a:r>
            <a:r>
              <a:rPr lang="ko-KR" altLang="en-US" dirty="0"/>
              <a:t>을 만족한다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하지만 이후 </a:t>
            </a:r>
            <a:r>
              <a:rPr lang="en-US" altLang="ko-KR" dirty="0"/>
              <a:t>10</a:t>
            </a:r>
            <a:r>
              <a:rPr lang="ko-KR" altLang="en-US" dirty="0"/>
              <a:t>개의 데이터에도 특정한 </a:t>
            </a:r>
            <a:r>
              <a:rPr lang="en-US" altLang="ko-KR" dirty="0"/>
              <a:t>Cycle</a:t>
            </a:r>
            <a:r>
              <a:rPr lang="ko-KR" altLang="en-US" dirty="0"/>
              <a:t>이 있어 보인다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R</a:t>
            </a:r>
            <a:r>
              <a:rPr lang="ko-KR" altLang="en-US" b="1" dirty="0"/>
              <a:t> </a:t>
            </a:r>
            <a:r>
              <a:rPr lang="en-US" altLang="ko-KR" b="1" dirty="0"/>
              <a:t>– Chart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이후 </a:t>
            </a:r>
            <a:r>
              <a:rPr lang="en-US" altLang="ko-KR" dirty="0"/>
              <a:t>10</a:t>
            </a:r>
            <a:r>
              <a:rPr lang="ko-KR" altLang="en-US" dirty="0"/>
              <a:t>개의 데이터 모두 </a:t>
            </a:r>
            <a:r>
              <a:rPr lang="en-US" altLang="ko-KR" dirty="0"/>
              <a:t>in-control</a:t>
            </a:r>
            <a:r>
              <a:rPr lang="ko-KR" altLang="en-US" dirty="0"/>
              <a:t>임을 확인할 수 있다</a:t>
            </a:r>
            <a:r>
              <a:rPr lang="en-US" altLang="ko-KR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640E92-92E0-4130-865F-D92295C5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891" y="1841484"/>
            <a:ext cx="5886450" cy="161925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134A5B-D304-4342-9B41-350F64A2381C}"/>
              </a:ext>
            </a:extLst>
          </p:cNvPr>
          <p:cNvCxnSpPr>
            <a:cxnSpLocks/>
          </p:cNvCxnSpPr>
          <p:nvPr/>
        </p:nvCxnSpPr>
        <p:spPr>
          <a:xfrm>
            <a:off x="4124528" y="1101741"/>
            <a:ext cx="0" cy="1359357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45CB045-74F9-4DDA-9311-14BB14A46A6B}"/>
              </a:ext>
            </a:extLst>
          </p:cNvPr>
          <p:cNvCxnSpPr>
            <a:cxnSpLocks/>
          </p:cNvCxnSpPr>
          <p:nvPr/>
        </p:nvCxnSpPr>
        <p:spPr>
          <a:xfrm>
            <a:off x="4124528" y="2584518"/>
            <a:ext cx="0" cy="1359357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86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6458515-4C03-4285-AEB3-3C07E741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88" y="752666"/>
            <a:ext cx="5468720" cy="36458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164468-8113-47BE-9084-FD286DB8D9C1}"/>
              </a:ext>
            </a:extLst>
          </p:cNvPr>
          <p:cNvSpPr txBox="1"/>
          <p:nvPr/>
        </p:nvSpPr>
        <p:spPr>
          <a:xfrm>
            <a:off x="529389" y="732409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 – a ) 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BD052-76AE-4EBA-9AF2-547F2FE73091}"/>
              </a:ext>
            </a:extLst>
          </p:cNvPr>
          <p:cNvSpPr txBox="1"/>
          <p:nvPr/>
        </p:nvSpPr>
        <p:spPr>
          <a:xfrm>
            <a:off x="386788" y="4495655"/>
            <a:ext cx="10949651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Fraction nonconforming with variable sample size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15</a:t>
            </a:r>
            <a:r>
              <a:rPr lang="ko-KR" altLang="en-US" dirty="0"/>
              <a:t>번째 샘플을 제외하고 모두 </a:t>
            </a:r>
            <a:r>
              <a:rPr lang="en-US" altLang="ko-KR" dirty="0"/>
              <a:t>in-control</a:t>
            </a:r>
            <a:r>
              <a:rPr lang="ko-KR" altLang="en-US" dirty="0"/>
              <a:t>을 만족한다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15</a:t>
            </a:r>
            <a:r>
              <a:rPr lang="ko-KR" altLang="en-US" dirty="0"/>
              <a:t>번째 샘플에서 </a:t>
            </a:r>
            <a:r>
              <a:rPr lang="en-US" altLang="ko-KR" dirty="0"/>
              <a:t>3-sigma</a:t>
            </a:r>
            <a:r>
              <a:rPr lang="ko-KR" altLang="en-US" dirty="0"/>
              <a:t>를 벗어나는 </a:t>
            </a:r>
            <a:r>
              <a:rPr lang="en-US" altLang="ko-KR" dirty="0"/>
              <a:t>out of control</a:t>
            </a:r>
            <a:r>
              <a:rPr lang="ko-KR" altLang="en-US" dirty="0"/>
              <a:t>이 발생했다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초반에는 평균 근처에 밀집해 있다가</a:t>
            </a:r>
            <a:r>
              <a:rPr lang="en-US" altLang="ko-KR" dirty="0"/>
              <a:t>, 9</a:t>
            </a:r>
            <a:r>
              <a:rPr lang="ko-KR" altLang="en-US" dirty="0"/>
              <a:t>번째 샘플 이후로 변동성이 커진 것을 확인할 수 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u="sng" dirty="0"/>
              <a:t>- 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0.0182(CL), 0.0431(UCL), 0(LCL)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B3942-787B-40A7-B34A-1A8A027B6F5D}"/>
              </a:ext>
            </a:extLst>
          </p:cNvPr>
          <p:cNvSpPr txBox="1"/>
          <p:nvPr/>
        </p:nvSpPr>
        <p:spPr>
          <a:xfrm>
            <a:off x="229037" y="130514"/>
            <a:ext cx="324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2 ( Loan 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880F0B-7B2F-406E-926E-EED13E840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94" y="1809750"/>
            <a:ext cx="58864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E8357E7-0EB1-4F0D-B49E-CA8B4E696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723728"/>
            <a:ext cx="5468720" cy="36458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164468-8113-47BE-9084-FD286DB8D9C1}"/>
              </a:ext>
            </a:extLst>
          </p:cNvPr>
          <p:cNvSpPr txBox="1"/>
          <p:nvPr/>
        </p:nvSpPr>
        <p:spPr>
          <a:xfrm>
            <a:off x="529389" y="732409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 – b ) 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BD052-76AE-4EBA-9AF2-547F2FE73091}"/>
              </a:ext>
            </a:extLst>
          </p:cNvPr>
          <p:cNvSpPr txBox="1"/>
          <p:nvPr/>
        </p:nvSpPr>
        <p:spPr>
          <a:xfrm>
            <a:off x="529389" y="4378222"/>
            <a:ext cx="11455310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Fraction nonconforming with variable sample size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15</a:t>
            </a:r>
            <a:r>
              <a:rPr lang="ko-KR" altLang="en-US" dirty="0"/>
              <a:t>번째 샘플을 제외하고 </a:t>
            </a:r>
            <a:r>
              <a:rPr lang="en-US" altLang="ko-KR" dirty="0"/>
              <a:t>Control Limit</a:t>
            </a:r>
            <a:r>
              <a:rPr lang="ko-KR" altLang="en-US" dirty="0"/>
              <a:t>을 계산한 결과</a:t>
            </a:r>
            <a:r>
              <a:rPr lang="en-US" altLang="ko-KR" dirty="0"/>
              <a:t>, 12</a:t>
            </a:r>
            <a:r>
              <a:rPr lang="ko-KR" altLang="en-US" dirty="0"/>
              <a:t>번째 샘플을 제외하고 </a:t>
            </a:r>
            <a:r>
              <a:rPr lang="en-US" altLang="ko-KR" dirty="0"/>
              <a:t>in-control</a:t>
            </a:r>
            <a:r>
              <a:rPr lang="ko-KR" altLang="en-US" dirty="0"/>
              <a:t>을 만족한다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12</a:t>
            </a:r>
            <a:r>
              <a:rPr lang="ko-KR" altLang="en-US" dirty="0"/>
              <a:t>번째 샘플에서 </a:t>
            </a:r>
            <a:r>
              <a:rPr lang="en-US" altLang="ko-KR" dirty="0"/>
              <a:t>3-sigma</a:t>
            </a:r>
            <a:r>
              <a:rPr lang="ko-KR" altLang="en-US" dirty="0"/>
              <a:t>를 벗어나는 </a:t>
            </a:r>
            <a:r>
              <a:rPr lang="en-US" altLang="ko-KR" dirty="0"/>
              <a:t>out of control</a:t>
            </a:r>
            <a:r>
              <a:rPr lang="ko-KR" altLang="en-US" dirty="0"/>
              <a:t>이 발생했다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전체적인 </a:t>
            </a:r>
            <a:r>
              <a:rPr lang="en-US" altLang="ko-KR" dirty="0"/>
              <a:t>Control Limit</a:t>
            </a:r>
            <a:r>
              <a:rPr lang="ko-KR" altLang="en-US" dirty="0"/>
              <a:t>이 감소하여 이전에는 </a:t>
            </a:r>
            <a:r>
              <a:rPr lang="en-US" altLang="ko-KR" dirty="0"/>
              <a:t>o-o-c</a:t>
            </a:r>
            <a:r>
              <a:rPr lang="ko-KR" altLang="en-US" dirty="0"/>
              <a:t>로 판단되지 않았던 </a:t>
            </a:r>
            <a:r>
              <a:rPr lang="en-US" altLang="ko-KR" dirty="0"/>
              <a:t>12</a:t>
            </a:r>
            <a:r>
              <a:rPr lang="ko-KR" altLang="en-US" dirty="0"/>
              <a:t>번째 샘플이 </a:t>
            </a:r>
            <a:r>
              <a:rPr lang="en-US" altLang="ko-KR" dirty="0"/>
              <a:t>o-o-c</a:t>
            </a:r>
            <a:r>
              <a:rPr lang="ko-KR" altLang="en-US" dirty="0"/>
              <a:t>로 탐지되었다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u="sng" dirty="0"/>
              <a:t>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0.0149(CL), 0.0374(UCL), 0(LCL)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B3942-787B-40A7-B34A-1A8A027B6F5D}"/>
              </a:ext>
            </a:extLst>
          </p:cNvPr>
          <p:cNvSpPr txBox="1"/>
          <p:nvPr/>
        </p:nvSpPr>
        <p:spPr>
          <a:xfrm>
            <a:off x="229037" y="130514"/>
            <a:ext cx="426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2 ( Loan ) #15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제외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7FE90A-F3C4-4723-BDF1-8659FE815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893" y="1737009"/>
            <a:ext cx="58864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6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A8B848-CB41-4753-8434-AAEAAFB1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3" y="766734"/>
            <a:ext cx="5594913" cy="37299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164468-8113-47BE-9084-FD286DB8D9C1}"/>
              </a:ext>
            </a:extLst>
          </p:cNvPr>
          <p:cNvSpPr txBox="1"/>
          <p:nvPr/>
        </p:nvSpPr>
        <p:spPr>
          <a:xfrm>
            <a:off x="529389" y="732409"/>
            <a:ext cx="96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 – b ) 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BD052-76AE-4EBA-9AF2-547F2FE73091}"/>
              </a:ext>
            </a:extLst>
          </p:cNvPr>
          <p:cNvSpPr txBox="1"/>
          <p:nvPr/>
        </p:nvSpPr>
        <p:spPr>
          <a:xfrm>
            <a:off x="625033" y="4651300"/>
            <a:ext cx="1145531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Fraction nonconforming with variable sample size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제외한 샘플 외에 모든 샘플에서 </a:t>
            </a:r>
            <a:r>
              <a:rPr lang="en-US" altLang="ko-KR" dirty="0"/>
              <a:t>in-control</a:t>
            </a:r>
            <a:r>
              <a:rPr lang="ko-KR" altLang="en-US" dirty="0"/>
              <a:t>을 만족한다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u="sng" dirty="0"/>
              <a:t>Control Limit</a:t>
            </a:r>
            <a:r>
              <a:rPr lang="ko-KR" altLang="en-US" u="sng" dirty="0"/>
              <a:t> </a:t>
            </a:r>
            <a:r>
              <a:rPr lang="en-US" altLang="ko-KR" u="sng" dirty="0"/>
              <a:t>:</a:t>
            </a:r>
            <a:r>
              <a:rPr lang="ko-KR" altLang="en-US" u="sng" dirty="0"/>
              <a:t> </a:t>
            </a:r>
            <a:r>
              <a:rPr lang="en-US" altLang="ko-KR" u="sng" dirty="0"/>
              <a:t>0.0134(CL), 0.0349(UCL), 0(LCL)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모두 </a:t>
            </a:r>
            <a:r>
              <a:rPr lang="en-US" altLang="ko-KR" dirty="0"/>
              <a:t>in-control</a:t>
            </a:r>
            <a:r>
              <a:rPr lang="ko-KR" altLang="en-US" dirty="0"/>
              <a:t>을 만족하므로 위의 </a:t>
            </a:r>
            <a:r>
              <a:rPr lang="en-US" altLang="ko-KR" dirty="0"/>
              <a:t>Control Limit</a:t>
            </a:r>
            <a:r>
              <a:rPr lang="ko-KR" altLang="en-US" dirty="0"/>
              <a:t>을 </a:t>
            </a:r>
            <a:r>
              <a:rPr lang="en-US" altLang="ko-KR" dirty="0"/>
              <a:t>Phase Ⅱ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적용하여 이후 공정을 모니터링한다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B3942-787B-40A7-B34A-1A8A027B6F5D}"/>
              </a:ext>
            </a:extLst>
          </p:cNvPr>
          <p:cNvSpPr txBox="1"/>
          <p:nvPr/>
        </p:nvSpPr>
        <p:spPr>
          <a:xfrm>
            <a:off x="229037" y="130514"/>
            <a:ext cx="426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Data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2 ( Loan ) #12 , #15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제외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0120F0-05CF-42FB-9F97-C270BF01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688" y="1822080"/>
            <a:ext cx="58864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17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612</Words>
  <Application>Microsoft Office PowerPoint</Application>
  <PresentationFormat>와이드스크린</PresentationFormat>
  <Paragraphs>60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마 민경</dc:creator>
  <cp:lastModifiedBy>마 민경</cp:lastModifiedBy>
  <cp:revision>1</cp:revision>
  <dcterms:created xsi:type="dcterms:W3CDTF">2021-11-22T16:10:25Z</dcterms:created>
  <dcterms:modified xsi:type="dcterms:W3CDTF">2021-11-22T17:06:56Z</dcterms:modified>
</cp:coreProperties>
</file>