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118" autoAdjust="0"/>
    <p:restoredTop sz="94660"/>
  </p:normalViewPr>
  <p:slideViewPr>
    <p:cSldViewPr snapToGrid="0">
      <p:cViewPr varScale="1">
        <p:scale>
          <a:sx n="49" d="100"/>
          <a:sy n="49" d="100"/>
        </p:scale>
        <p:origin x="91" y="9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8F7B-BBBF-4C8E-8B6D-74D50112CEF3}" type="datetimeFigureOut">
              <a:rPr lang="ko-KR" altLang="en-US" smtClean="0"/>
              <a:t>2021-11-22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8811D-53D1-44F9-8E0E-F80D97835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366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8F7B-BBBF-4C8E-8B6D-74D50112CEF3}" type="datetimeFigureOut">
              <a:rPr lang="ko-KR" altLang="en-US" smtClean="0"/>
              <a:t>2021-11-22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8811D-53D1-44F9-8E0E-F80D97835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355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8F7B-BBBF-4C8E-8B6D-74D50112CEF3}" type="datetimeFigureOut">
              <a:rPr lang="ko-KR" altLang="en-US" smtClean="0"/>
              <a:t>2021-11-22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8811D-53D1-44F9-8E0E-F80D97835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019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8F7B-BBBF-4C8E-8B6D-74D50112CEF3}" type="datetimeFigureOut">
              <a:rPr lang="ko-KR" altLang="en-US" smtClean="0"/>
              <a:t>2021-11-22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8811D-53D1-44F9-8E0E-F80D97835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7677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8F7B-BBBF-4C8E-8B6D-74D50112CEF3}" type="datetimeFigureOut">
              <a:rPr lang="ko-KR" altLang="en-US" smtClean="0"/>
              <a:t>2021-11-22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8811D-53D1-44F9-8E0E-F80D97835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488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8F7B-BBBF-4C8E-8B6D-74D50112CEF3}" type="datetimeFigureOut">
              <a:rPr lang="ko-KR" altLang="en-US" smtClean="0"/>
              <a:t>2021-11-22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8811D-53D1-44F9-8E0E-F80D97835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770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8F7B-BBBF-4C8E-8B6D-74D50112CEF3}" type="datetimeFigureOut">
              <a:rPr lang="ko-KR" altLang="en-US" smtClean="0"/>
              <a:t>2021-11-22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8811D-53D1-44F9-8E0E-F80D97835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004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8F7B-BBBF-4C8E-8B6D-74D50112CEF3}" type="datetimeFigureOut">
              <a:rPr lang="ko-KR" altLang="en-US" smtClean="0"/>
              <a:t>2021-11-22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8811D-53D1-44F9-8E0E-F80D97835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157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8F7B-BBBF-4C8E-8B6D-74D50112CEF3}" type="datetimeFigureOut">
              <a:rPr lang="ko-KR" altLang="en-US" smtClean="0"/>
              <a:t>2021-11-22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8811D-53D1-44F9-8E0E-F80D97835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3114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8F7B-BBBF-4C8E-8B6D-74D50112CEF3}" type="datetimeFigureOut">
              <a:rPr lang="ko-KR" altLang="en-US" smtClean="0"/>
              <a:t>2021-11-22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8811D-53D1-44F9-8E0E-F80D97835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221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8F7B-BBBF-4C8E-8B6D-74D50112CEF3}" type="datetimeFigureOut">
              <a:rPr lang="ko-KR" altLang="en-US" smtClean="0"/>
              <a:t>2021-11-22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8811D-53D1-44F9-8E0E-F80D97835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272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28F7B-BBBF-4C8E-8B6D-74D50112CEF3}" type="datetimeFigureOut">
              <a:rPr lang="ko-KR" altLang="en-US" smtClean="0"/>
              <a:t>2021-11-22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08811D-53D1-44F9-8E0E-F80D97835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2506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62526" y="401053"/>
            <a:ext cx="59756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Series Data Analysis Project (2021)</a:t>
            </a:r>
            <a:endParaRPr lang="ko-KR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62526" y="1042737"/>
            <a:ext cx="5839327" cy="1112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dirty="0"/>
              <a:t>성명</a:t>
            </a:r>
            <a:r>
              <a:rPr lang="en-US" altLang="ko-KR" dirty="0"/>
              <a:t>: </a:t>
            </a:r>
            <a:r>
              <a:rPr lang="ko-KR" altLang="en-US" dirty="0"/>
              <a:t>마민경</a:t>
            </a:r>
            <a:endParaRPr lang="en-US" altLang="ko-KR" dirty="0"/>
          </a:p>
          <a:p>
            <a:pPr>
              <a:lnSpc>
                <a:spcPct val="200000"/>
              </a:lnSpc>
            </a:pPr>
            <a:r>
              <a:rPr lang="ko-KR" altLang="en-US" dirty="0"/>
              <a:t>학번</a:t>
            </a:r>
            <a:r>
              <a:rPr lang="en-US" altLang="ko-KR" dirty="0"/>
              <a:t>: 12191890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26695" y="3152273"/>
            <a:ext cx="1860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1: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6695" y="2606329"/>
            <a:ext cx="6585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최종 모형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(Final Model)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6929" y="4762452"/>
            <a:ext cx="1860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Data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1: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개체 11"/>
              <p:cNvSpPr txBox="1"/>
              <p:nvPr/>
            </p:nvSpPr>
            <p:spPr bwMode="auto">
              <a:xfrm>
                <a:off x="2833688" y="3225800"/>
                <a:ext cx="1874964" cy="510074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ko-KR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    </m:t>
                      </m:r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=200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2" name="개체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33688" y="3225800"/>
                <a:ext cx="1874964" cy="5100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개체 12"/>
              <p:cNvSpPr txBox="1"/>
              <p:nvPr/>
            </p:nvSpPr>
            <p:spPr bwMode="auto">
              <a:xfrm>
                <a:off x="2699102" y="4761229"/>
                <a:ext cx="1860884" cy="396812"/>
              </a:xfrm>
              <a:prstGeom prst="rect">
                <a:avLst/>
              </a:prstGeom>
              <a:noFill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ko-KR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ko-KR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ko-KR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ko-KR" altLang="en-US" sz="26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    </m:t>
                      </m:r>
                      <m:sSub>
                        <m:sSubPr>
                          <m:ctrlPr>
                            <a:rPr lang="ko-KR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ko-KR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ko-KR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176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3" name="개체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9102" y="4761229"/>
                <a:ext cx="1860884" cy="3968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4708652" y="4716526"/>
            <a:ext cx="3136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(Sunspot Data)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0454" y="3192209"/>
            <a:ext cx="3136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(Simulated Data)</a:t>
            </a:r>
          </a:p>
        </p:txBody>
      </p:sp>
      <p:sp>
        <p:nvSpPr>
          <p:cNvPr id="16" name="Rectangle 9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71CA7F8-C932-4656-8ED1-7CF196944CFD}"/>
                  </a:ext>
                </a:extLst>
              </p:cNvPr>
              <p:cNvSpPr txBox="1"/>
              <p:nvPr/>
            </p:nvSpPr>
            <p:spPr>
              <a:xfrm>
                <a:off x="2571875" y="3714699"/>
                <a:ext cx="397622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𝑍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1 −0.6697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ko-KR" sz="1800" b="0" dirty="0"/>
              </a:p>
              <a:p>
                <a:r>
                  <a:rPr lang="en-US" altLang="ko-KR" sz="1800" dirty="0"/>
                  <a:t>                            </a:t>
                </a:r>
                <a:r>
                  <a:rPr lang="en-US" altLang="ko-KR" sz="1400" dirty="0"/>
                  <a:t>( 0.0530 )</a:t>
                </a:r>
                <a:endParaRPr lang="en-US" altLang="ko-KR" sz="1400" b="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71CA7F8-C932-4656-8ED1-7CF196944C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875" y="3714699"/>
                <a:ext cx="3976221" cy="646331"/>
              </a:xfrm>
              <a:prstGeom prst="rect">
                <a:avLst/>
              </a:prstGeom>
              <a:blipFill>
                <a:blip r:embed="rId4"/>
                <a:stretch>
                  <a:fillRect b="-75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7ED00F6-6F47-47B5-9106-A40D68D56932}"/>
                  </a:ext>
                </a:extLst>
              </p:cNvPr>
              <p:cNvSpPr txBox="1"/>
              <p:nvPr/>
            </p:nvSpPr>
            <p:spPr>
              <a:xfrm>
                <a:off x="494063" y="5533206"/>
                <a:ext cx="11504873" cy="681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1−0.9981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1+0.3409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1+0.4788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1+0.2908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24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1+0.3683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36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p>
                          </m:sSup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𝐿𝑜𝑔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ko-KR" dirty="0"/>
              </a:p>
              <a:p>
                <a:r>
                  <a:rPr lang="en-US" altLang="ko-KR" dirty="0"/>
                  <a:t>      </a:t>
                </a:r>
                <a:r>
                  <a:rPr lang="en-US" altLang="ko-KR" sz="1400" dirty="0"/>
                  <a:t>    (0..0796)	  	(0.0792) 		(0.0784)	     (0.0884) 	(0.0818)</a:t>
                </a:r>
                <a:endParaRPr lang="ko-KR" altLang="en-US" sz="14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7ED00F6-6F47-47B5-9106-A40D68D56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63" y="5533206"/>
                <a:ext cx="11504873" cy="681982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3256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l="24921" t="44885" r="31429" b="48766"/>
          <a:stretch/>
        </p:blipFill>
        <p:spPr>
          <a:xfrm>
            <a:off x="18925" y="447040"/>
            <a:ext cx="7294880" cy="477520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58958E95-B3D8-463A-927B-2F8E710C349F}"/>
              </a:ext>
            </a:extLst>
          </p:cNvPr>
          <p:cNvGrpSpPr/>
          <p:nvPr/>
        </p:nvGrpSpPr>
        <p:grpSpPr>
          <a:xfrm>
            <a:off x="0" y="1440840"/>
            <a:ext cx="12192000" cy="2653641"/>
            <a:chOff x="0" y="587400"/>
            <a:chExt cx="12192000" cy="265364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A6E78F6-37BE-41E2-A483-0D02FD09E9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090" r="3704"/>
            <a:stretch/>
          </p:blipFill>
          <p:spPr>
            <a:xfrm>
              <a:off x="8114037" y="640287"/>
              <a:ext cx="4077963" cy="2600754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DBCFB545-17FD-4156-A6C7-5A67889195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090" r="3704"/>
            <a:stretch/>
          </p:blipFill>
          <p:spPr>
            <a:xfrm>
              <a:off x="18925" y="640282"/>
              <a:ext cx="4077964" cy="2600758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DDA275DD-FA1F-4244-B162-86ED4510C1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3704"/>
            <a:stretch/>
          </p:blipFill>
          <p:spPr>
            <a:xfrm>
              <a:off x="4077964" y="640283"/>
              <a:ext cx="4213185" cy="260075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E3AC0A-DFE5-4218-BDF2-9EEFAFD8619B}"/>
                </a:ext>
              </a:extLst>
            </p:cNvPr>
            <p:cNvSpPr txBox="1"/>
            <p:nvPr/>
          </p:nvSpPr>
          <p:spPr>
            <a:xfrm>
              <a:off x="0" y="587400"/>
              <a:ext cx="15849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Time Series Plot</a:t>
              </a:r>
              <a:endParaRPr lang="ko-KR" altLang="en-US" sz="1400" b="1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1DB289B-1D55-4D64-8F06-03D368CF0AF1}"/>
                </a:ext>
              </a:extLst>
            </p:cNvPr>
            <p:cNvSpPr txBox="1"/>
            <p:nvPr/>
          </p:nvSpPr>
          <p:spPr>
            <a:xfrm>
              <a:off x="4532757" y="676803"/>
              <a:ext cx="6375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ACF</a:t>
              </a:r>
              <a:endParaRPr lang="ko-KR" altLang="en-US" sz="1400" b="1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E019FE1-BA21-45C8-9C5D-C76C0312F11A}"/>
                </a:ext>
              </a:extLst>
            </p:cNvPr>
            <p:cNvSpPr txBox="1"/>
            <p:nvPr/>
          </p:nvSpPr>
          <p:spPr>
            <a:xfrm>
              <a:off x="8552022" y="676803"/>
              <a:ext cx="8073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PACF</a:t>
              </a:r>
              <a:endParaRPr lang="ko-KR" altLang="en-US" sz="1400" b="1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7F13687-FE2F-458D-9F18-D1C725BE0319}"/>
              </a:ext>
            </a:extLst>
          </p:cNvPr>
          <p:cNvSpPr txBox="1"/>
          <p:nvPr/>
        </p:nvSpPr>
        <p:spPr>
          <a:xfrm>
            <a:off x="182880" y="4250539"/>
            <a:ext cx="11003280" cy="15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/>
              <a:t>Z1</a:t>
            </a:r>
            <a:r>
              <a:rPr lang="ko-KR" altLang="en-US" sz="1600" dirty="0"/>
              <a:t>의 시계열도 → 평균의 변화 있으나 분산은 어느정도 일정한 것으로 보인다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/>
              <a:t>Z1</a:t>
            </a:r>
            <a:r>
              <a:rPr lang="ko-KR" altLang="en-US" sz="1600" dirty="0"/>
              <a:t>의 </a:t>
            </a:r>
            <a:r>
              <a:rPr lang="en-US" altLang="ko-KR" sz="1600" dirty="0"/>
              <a:t>ACF </a:t>
            </a:r>
            <a:r>
              <a:rPr lang="ko-KR" altLang="en-US" sz="1600" dirty="0"/>
              <a:t>→ 느린 속도로 감소 </a:t>
            </a:r>
            <a:r>
              <a:rPr lang="en-US" altLang="ko-KR" sz="1600" dirty="0"/>
              <a:t>=&gt; Non-Stationary !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/>
              <a:t>Z1</a:t>
            </a:r>
            <a:r>
              <a:rPr lang="ko-KR" altLang="en-US" sz="1600" dirty="0"/>
              <a:t>의 </a:t>
            </a:r>
            <a:r>
              <a:rPr lang="en-US" altLang="ko-KR" sz="1600" dirty="0"/>
              <a:t>PACF </a:t>
            </a:r>
            <a:r>
              <a:rPr lang="ko-KR" altLang="en-US" sz="1600" dirty="0"/>
              <a:t>→ </a:t>
            </a:r>
            <a:r>
              <a:rPr lang="en-US" altLang="ko-KR" sz="1600" dirty="0"/>
              <a:t>Cut off After lag 2 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=&gt; </a:t>
            </a:r>
            <a:r>
              <a:rPr lang="ko-KR" altLang="en-US" sz="1600" dirty="0"/>
              <a:t>차분을 통해 정상화 필요 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991610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60C2AD4A-B280-4E64-8C8F-BEFCC4267DD7}"/>
              </a:ext>
            </a:extLst>
          </p:cNvPr>
          <p:cNvSpPr txBox="1"/>
          <p:nvPr/>
        </p:nvSpPr>
        <p:spPr>
          <a:xfrm>
            <a:off x="0" y="71120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&lt;</a:t>
            </a:r>
            <a:r>
              <a:rPr lang="ko-KR" altLang="en-US" sz="1600" b="1" dirty="0"/>
              <a:t>차분으로 정상화 </a:t>
            </a:r>
            <a:r>
              <a:rPr lang="en-US" altLang="ko-KR" sz="1600" b="1" dirty="0"/>
              <a:t>(1-B)Z1(t)&gt;</a:t>
            </a:r>
            <a:r>
              <a:rPr lang="ko-KR" altLang="en-US" sz="1600" b="1" dirty="0"/>
              <a:t> 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C218CF3-8798-4BB0-BC74-D60CC9C42D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91" r="4328"/>
          <a:stretch/>
        </p:blipFill>
        <p:spPr>
          <a:xfrm>
            <a:off x="18925" y="379449"/>
            <a:ext cx="3699635" cy="268143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E31E18F-E2F5-40E1-9FFD-A2E4C70CE1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16" r="5003"/>
          <a:stretch/>
        </p:blipFill>
        <p:spPr>
          <a:xfrm>
            <a:off x="3943036" y="379450"/>
            <a:ext cx="3699635" cy="268143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4E5EEF99-4DA8-4184-8C2B-0EEAB70320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955" r="4064"/>
          <a:stretch/>
        </p:blipFill>
        <p:spPr>
          <a:xfrm>
            <a:off x="7755387" y="379448"/>
            <a:ext cx="3699635" cy="268143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E73C71A-6279-45D4-860E-7AA5268ED66D}"/>
              </a:ext>
            </a:extLst>
          </p:cNvPr>
          <p:cNvSpPr txBox="1"/>
          <p:nvPr/>
        </p:nvSpPr>
        <p:spPr>
          <a:xfrm>
            <a:off x="101600" y="3086186"/>
            <a:ext cx="11003280" cy="15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/>
              <a:t>(1-B)Z1</a:t>
            </a:r>
            <a:r>
              <a:rPr lang="ko-KR" altLang="en-US" sz="1600" dirty="0"/>
              <a:t>의 시계열도 → 평균과 분산이 일정하며 </a:t>
            </a:r>
            <a:r>
              <a:rPr lang="en-US" altLang="ko-KR" sz="1600" dirty="0"/>
              <a:t>Stationary process</a:t>
            </a:r>
            <a:r>
              <a:rPr lang="ko-KR" altLang="en-US" sz="1600" dirty="0"/>
              <a:t>라고 할 수 있다</a:t>
            </a:r>
            <a:r>
              <a:rPr lang="en-US" altLang="ko-KR" sz="1600" dirty="0"/>
              <a:t>.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/>
              <a:t>(1-B)Z1</a:t>
            </a:r>
            <a:r>
              <a:rPr lang="ko-KR" altLang="en-US" sz="1600" dirty="0"/>
              <a:t>의 </a:t>
            </a:r>
            <a:r>
              <a:rPr lang="en-US" altLang="ko-KR" sz="1600" dirty="0"/>
              <a:t>ACF </a:t>
            </a:r>
            <a:r>
              <a:rPr lang="ko-KR" altLang="en-US" sz="1600" dirty="0"/>
              <a:t>→ </a:t>
            </a:r>
            <a:r>
              <a:rPr lang="en-US" altLang="ko-KR" sz="1600" dirty="0"/>
              <a:t>Cut off After lag 1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/>
              <a:t>(1-B)Z1</a:t>
            </a:r>
            <a:r>
              <a:rPr lang="ko-KR" altLang="en-US" sz="1600" dirty="0"/>
              <a:t>의 </a:t>
            </a:r>
            <a:r>
              <a:rPr lang="en-US" altLang="ko-KR" sz="1600" dirty="0"/>
              <a:t>PACF </a:t>
            </a:r>
            <a:r>
              <a:rPr lang="ko-KR" altLang="en-US" sz="1600" dirty="0"/>
              <a:t>→ 지수적으로 감소</a:t>
            </a:r>
            <a:r>
              <a:rPr lang="en-US" altLang="ko-KR" sz="1600" dirty="0"/>
              <a:t> 		</a:t>
            </a:r>
            <a:r>
              <a:rPr lang="ko-KR" altLang="en-US" sz="1600" b="1" dirty="0"/>
              <a:t>∴ </a:t>
            </a:r>
            <a:r>
              <a:rPr lang="en-US" altLang="ko-KR" sz="1600" b="1" dirty="0"/>
              <a:t>IMA(1,1) Process</a:t>
            </a:r>
            <a:r>
              <a:rPr lang="ko-KR" altLang="en-US" sz="1600" b="1" dirty="0"/>
              <a:t> 고려 </a:t>
            </a:r>
            <a:endParaRPr lang="en-US" altLang="ko-KR" sz="1600" b="1" dirty="0"/>
          </a:p>
          <a:p>
            <a:pPr>
              <a:lnSpc>
                <a:spcPct val="150000"/>
              </a:lnSpc>
            </a:pPr>
            <a:r>
              <a:rPr lang="en-US" altLang="ko-KR" sz="1600" b="1" dirty="0"/>
              <a:t>&lt; IMA(1,1) Process </a:t>
            </a:r>
            <a:r>
              <a:rPr lang="ko-KR" altLang="en-US" sz="1600" b="1" dirty="0"/>
              <a:t>적합 </a:t>
            </a:r>
            <a:r>
              <a:rPr lang="en-US" altLang="ko-KR" sz="1600" b="1" dirty="0"/>
              <a:t>&gt;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238386E-CFAB-416E-8B7A-FBF7F421C5F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8577"/>
          <a:stretch/>
        </p:blipFill>
        <p:spPr>
          <a:xfrm>
            <a:off x="206057" y="4661118"/>
            <a:ext cx="2913096" cy="130836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90F6E95-9BA1-4862-8138-5333ECEB737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8421" t="17253" r="7929"/>
          <a:stretch/>
        </p:blipFill>
        <p:spPr>
          <a:xfrm>
            <a:off x="4064000" y="4661118"/>
            <a:ext cx="1513840" cy="1308362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667E0204-65C7-4B39-90DA-DC1FD19DA4A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131" t="17875" r="4085"/>
          <a:stretch/>
        </p:blipFill>
        <p:spPr>
          <a:xfrm>
            <a:off x="6858001" y="4661118"/>
            <a:ext cx="4074160" cy="1384567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E157054-3505-40AE-8139-F9FA9E223CBD}"/>
              </a:ext>
            </a:extLst>
          </p:cNvPr>
          <p:cNvSpPr txBox="1"/>
          <p:nvPr/>
        </p:nvSpPr>
        <p:spPr>
          <a:xfrm>
            <a:off x="206056" y="5969480"/>
            <a:ext cx="9324024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상수 → 유의하지 않으므로 이후 제외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카이</a:t>
            </a:r>
            <a:r>
              <a:rPr lang="en-US" altLang="ko-KR" sz="1600" dirty="0"/>
              <a:t>-</a:t>
            </a:r>
            <a:r>
              <a:rPr lang="ko-KR" altLang="en-US" sz="1600" dirty="0"/>
              <a:t>제곱 통계량 → </a:t>
            </a:r>
            <a:r>
              <a:rPr lang="en-US" altLang="ko-KR" sz="1600" dirty="0"/>
              <a:t>p-</a:t>
            </a:r>
            <a:r>
              <a:rPr lang="ko-KR" altLang="en-US" sz="1600" dirty="0"/>
              <a:t>값이 모두 </a:t>
            </a:r>
            <a:r>
              <a:rPr lang="en-US" altLang="ko-KR" sz="1600" dirty="0"/>
              <a:t>0.05</a:t>
            </a:r>
            <a:r>
              <a:rPr lang="ko-KR" altLang="en-US" sz="1600" dirty="0"/>
              <a:t>보다 크기 때문에 기각 </a:t>
            </a:r>
            <a:r>
              <a:rPr lang="en-US" altLang="ko-KR" sz="1600" dirty="0"/>
              <a:t>X =&gt; White Noise </a:t>
            </a:r>
            <a:r>
              <a:rPr lang="ko-KR" altLang="en-US" sz="1600" dirty="0"/>
              <a:t>오차 조건 만족</a:t>
            </a:r>
            <a:r>
              <a:rPr lang="en-US" altLang="ko-KR" sz="1600" dirty="0"/>
              <a:t> </a:t>
            </a:r>
            <a:r>
              <a:rPr lang="ko-KR" alt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7060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그림 34">
            <a:extLst>
              <a:ext uri="{FF2B5EF4-FFF2-40B4-BE49-F238E27FC236}">
                <a16:creationId xmlns:a16="http://schemas.microsoft.com/office/drawing/2014/main" id="{C6C15F9E-2859-40A2-BBC5-63B95886A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59" y="276427"/>
            <a:ext cx="2676525" cy="1266825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2AF01ADD-BA03-47A6-B844-678E55B7F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412" y="119264"/>
            <a:ext cx="1809750" cy="158115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2271E0FA-5CCE-4E57-B6BA-E0E2140610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208" y="66876"/>
            <a:ext cx="4391025" cy="168592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E73C71A-6279-45D4-860E-7AA5268ED66D}"/>
              </a:ext>
            </a:extLst>
          </p:cNvPr>
          <p:cNvSpPr txBox="1"/>
          <p:nvPr/>
        </p:nvSpPr>
        <p:spPr>
          <a:xfrm>
            <a:off x="0" y="123069"/>
            <a:ext cx="11003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&lt; IMA(1,1) Process ,</a:t>
            </a:r>
            <a:r>
              <a:rPr lang="ko-KR" altLang="en-US" sz="1600" b="1" dirty="0"/>
              <a:t> </a:t>
            </a:r>
            <a:r>
              <a:rPr lang="ko-KR" altLang="en-US" sz="1600" b="1" dirty="0" err="1"/>
              <a:t>상수항</a:t>
            </a:r>
            <a:r>
              <a:rPr lang="ko-KR" altLang="en-US" sz="1600" b="1" dirty="0"/>
              <a:t> 제거 </a:t>
            </a:r>
            <a:r>
              <a:rPr lang="en-US" altLang="ko-KR" sz="1600" b="1" dirty="0"/>
              <a:t>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157054-3505-40AE-8139-F9FA9E223CBD}"/>
              </a:ext>
            </a:extLst>
          </p:cNvPr>
          <p:cNvSpPr txBox="1"/>
          <p:nvPr/>
        </p:nvSpPr>
        <p:spPr>
          <a:xfrm>
            <a:off x="109529" y="1562051"/>
            <a:ext cx="9324024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카이</a:t>
            </a:r>
            <a:r>
              <a:rPr lang="en-US" altLang="ko-KR" sz="1600" dirty="0"/>
              <a:t>-</a:t>
            </a:r>
            <a:r>
              <a:rPr lang="ko-KR" altLang="en-US" sz="1600" dirty="0"/>
              <a:t>제곱 통계량 → </a:t>
            </a:r>
            <a:r>
              <a:rPr lang="en-US" altLang="ko-KR" sz="1600" dirty="0"/>
              <a:t>p-</a:t>
            </a:r>
            <a:r>
              <a:rPr lang="ko-KR" altLang="en-US" sz="1600" dirty="0"/>
              <a:t>값이 모두 </a:t>
            </a:r>
            <a:r>
              <a:rPr lang="en-US" altLang="ko-KR" sz="1600" dirty="0"/>
              <a:t>0.05</a:t>
            </a:r>
            <a:r>
              <a:rPr lang="ko-KR" altLang="en-US" sz="1600" dirty="0"/>
              <a:t>보다 크기 때문에 기각 </a:t>
            </a:r>
            <a:r>
              <a:rPr lang="en-US" altLang="ko-KR" sz="1600" dirty="0"/>
              <a:t>X =&gt; White Noise </a:t>
            </a:r>
            <a:r>
              <a:rPr lang="ko-KR" altLang="en-US" sz="1600" dirty="0"/>
              <a:t>오차 조건 만족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위 모형이 유의하다고 할 수 있다</a:t>
            </a:r>
            <a:r>
              <a:rPr lang="en-US" altLang="ko-KR" sz="1600" dirty="0"/>
              <a:t>.  </a:t>
            </a:r>
            <a:r>
              <a:rPr lang="ko-KR" altLang="en-US" sz="1600" dirty="0"/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1A6A76-EC32-44CE-A383-79D213F6ECEA}"/>
              </a:ext>
            </a:extLst>
          </p:cNvPr>
          <p:cNvSpPr txBox="1"/>
          <p:nvPr/>
        </p:nvSpPr>
        <p:spPr>
          <a:xfrm>
            <a:off x="0" y="2365117"/>
            <a:ext cx="11003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&lt; IMA(1,1) Process ,</a:t>
            </a:r>
            <a:r>
              <a:rPr lang="ko-KR" altLang="en-US" sz="1600" b="1" dirty="0"/>
              <a:t> </a:t>
            </a:r>
            <a:r>
              <a:rPr lang="ko-KR" altLang="en-US" sz="1600" b="1" dirty="0" err="1"/>
              <a:t>잔차</a:t>
            </a:r>
            <a:r>
              <a:rPr lang="ko-KR" altLang="en-US" sz="1600" b="1" dirty="0"/>
              <a:t> 분석 </a:t>
            </a:r>
            <a:r>
              <a:rPr lang="en-US" altLang="ko-KR" sz="1600" b="1" dirty="0"/>
              <a:t>&gt;</a:t>
            </a: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208CE6EE-DC6F-4EFD-8223-7C8A53E888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059" y="2738396"/>
            <a:ext cx="4267744" cy="2845163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F0A78A28-9A74-4C01-B55A-2B94D186FE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7492" y="2738396"/>
            <a:ext cx="4267744" cy="284516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3B95E7C-E627-441D-9A0D-566A9F7715D2}"/>
                  </a:ext>
                </a:extLst>
              </p:cNvPr>
              <p:cNvSpPr txBox="1"/>
              <p:nvPr/>
            </p:nvSpPr>
            <p:spPr>
              <a:xfrm>
                <a:off x="225274" y="5625512"/>
                <a:ext cx="1143043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잔차의 </a:t>
                </a:r>
                <a:r>
                  <a:rPr lang="en-US" altLang="ko-KR" sz="1600" dirty="0"/>
                  <a:t>ACF</a:t>
                </a:r>
                <a:r>
                  <a:rPr lang="ko-KR" altLang="en-US" sz="1600" dirty="0"/>
                  <a:t>와 </a:t>
                </a:r>
                <a:r>
                  <a:rPr lang="en-US" altLang="ko-KR" sz="1600" dirty="0"/>
                  <a:t>PACF </a:t>
                </a:r>
                <a:r>
                  <a:rPr lang="ko-KR" altLang="en-US" sz="1600" dirty="0"/>
                  <a:t>모두 </a:t>
                </a:r>
                <a:r>
                  <a:rPr lang="en-US" altLang="ko-KR" sz="1600" dirty="0"/>
                  <a:t>0</a:t>
                </a:r>
                <a:r>
                  <a:rPr lang="ko-KR" altLang="en-US" sz="1600" dirty="0"/>
                  <a:t>으로 </a:t>
                </a:r>
                <a:r>
                  <a:rPr lang="en-US" altLang="ko-KR" sz="1600" dirty="0"/>
                  <a:t>White Noise Process</a:t>
                </a:r>
                <a:r>
                  <a:rPr lang="ko-KR" altLang="en-US" sz="1600" dirty="0"/>
                  <a:t>를 </a:t>
                </a:r>
                <a:r>
                  <a:rPr lang="ko-KR" altLang="en-US" sz="1600" dirty="0" err="1"/>
                  <a:t>따르기</a:t>
                </a:r>
                <a:r>
                  <a:rPr lang="ko-KR" altLang="en-US" sz="1600" dirty="0"/>
                  <a:t> 때문에 </a:t>
                </a:r>
                <a:endParaRPr lang="en-US" altLang="ko-KR" sz="1600" dirty="0"/>
              </a:p>
              <a:p>
                <a:r>
                  <a:rPr lang="en-US" altLang="ko-KR" sz="1600" dirty="0"/>
                  <a:t>    </a:t>
                </a:r>
                <a:r>
                  <a:rPr lang="ko-KR" altLang="en-US" sz="1600" dirty="0"/>
                  <a:t>최종적으로 데이터는 </a:t>
                </a:r>
                <a:r>
                  <a:rPr lang="en-US" altLang="ko-KR" sz="1600" dirty="0"/>
                  <a:t>IMA(1,1)</a:t>
                </a:r>
                <a:r>
                  <a:rPr lang="ko-KR" altLang="en-US" sz="1600" dirty="0"/>
                  <a:t> </a:t>
                </a:r>
                <a:r>
                  <a:rPr lang="en-US" altLang="ko-KR" sz="1600" dirty="0"/>
                  <a:t>Process</a:t>
                </a:r>
                <a:r>
                  <a:rPr lang="ko-KR" altLang="en-US" sz="1600" dirty="0"/>
                  <a:t>를 </a:t>
                </a:r>
                <a:r>
                  <a:rPr lang="ko-KR" altLang="en-US" sz="1600" dirty="0" err="1"/>
                  <a:t>따른다고</a:t>
                </a:r>
                <a:r>
                  <a:rPr lang="ko-KR" altLang="en-US" sz="1600" dirty="0"/>
                  <a:t> 할 수 있다</a:t>
                </a:r>
                <a:r>
                  <a:rPr lang="en-US" altLang="ko-KR" sz="1600" dirty="0"/>
                  <a:t>.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𝑍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1 −0.6697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ko-KR" sz="2000" b="0" dirty="0"/>
              </a:p>
              <a:p>
                <a:r>
                  <a:rPr lang="en-US" altLang="ko-KR" sz="2000" dirty="0"/>
                  <a:t>                            </a:t>
                </a:r>
                <a:r>
                  <a:rPr lang="en-US" altLang="ko-KR" sz="1600" dirty="0"/>
                  <a:t>( 0.0530 )</a:t>
                </a:r>
                <a:endParaRPr lang="en-US" altLang="ko-KR" sz="1600" b="0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3B95E7C-E627-441D-9A0D-566A9F771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274" y="5625512"/>
                <a:ext cx="11430431" cy="1200329"/>
              </a:xfrm>
              <a:prstGeom prst="rect">
                <a:avLst/>
              </a:prstGeom>
              <a:blipFill>
                <a:blip r:embed="rId7"/>
                <a:stretch>
                  <a:fillRect l="-533" t="-3553" b="-45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3173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>
            <a:extLst>
              <a:ext uri="{FF2B5EF4-FFF2-40B4-BE49-F238E27FC236}">
                <a16:creationId xmlns:a16="http://schemas.microsoft.com/office/drawing/2014/main" id="{0E6FC3EC-12F7-4563-9DF2-3E2E0298AD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039"/>
          <a:stretch/>
        </p:blipFill>
        <p:spPr>
          <a:xfrm>
            <a:off x="3977989" y="3545511"/>
            <a:ext cx="4022349" cy="2794441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546D1A1E-E951-43F1-9C83-5D47BBFAA2DF}"/>
              </a:ext>
            </a:extLst>
          </p:cNvPr>
          <p:cNvGrpSpPr/>
          <p:nvPr/>
        </p:nvGrpSpPr>
        <p:grpSpPr>
          <a:xfrm>
            <a:off x="123552" y="86653"/>
            <a:ext cx="6887954" cy="441515"/>
            <a:chOff x="956929" y="4716526"/>
            <a:chExt cx="6887954" cy="44151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51AE5EA-AD44-4592-B53B-04BB4333945E}"/>
                </a:ext>
              </a:extLst>
            </p:cNvPr>
            <p:cNvSpPr txBox="1"/>
            <p:nvPr/>
          </p:nvSpPr>
          <p:spPr>
            <a:xfrm>
              <a:off x="956929" y="4762452"/>
              <a:ext cx="18608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 Data</a:t>
              </a:r>
              <a:r>
                <a:rPr lang="ko-KR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Set 1: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개체 12">
                  <a:extLst>
                    <a:ext uri="{FF2B5EF4-FFF2-40B4-BE49-F238E27FC236}">
                      <a16:creationId xmlns:a16="http://schemas.microsoft.com/office/drawing/2014/main" id="{20859912-8801-4F8E-B0E5-8E64ADE4FB2D}"/>
                    </a:ext>
                  </a:extLst>
                </p:cNvPr>
                <p:cNvSpPr txBox="1"/>
                <p:nvPr/>
              </p:nvSpPr>
              <p:spPr bwMode="auto">
                <a:xfrm>
                  <a:off x="2699102" y="4761229"/>
                  <a:ext cx="1860884" cy="396812"/>
                </a:xfrm>
                <a:prstGeom prst="rect">
                  <a:avLst/>
                </a:prstGeom>
                <a:noFill/>
              </p:spPr>
              <p:txBody>
                <a:bodyPr>
                  <a:normAutofit fontScale="62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ko-KR" altLang="en-US" sz="26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ko-KR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ko-KR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ko-KR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ko-KR" altLang="en-US" sz="26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     </m:t>
                        </m:r>
                        <m:sSub>
                          <m:sSubPr>
                            <m:ctrlPr>
                              <a:rPr lang="ko-KR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ko-KR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ko-KR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176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>
            <p:sp>
              <p:nvSpPr>
                <p:cNvPr id="5" name="개체 12">
                  <a:extLst>
                    <a:ext uri="{FF2B5EF4-FFF2-40B4-BE49-F238E27FC236}">
                      <a16:creationId xmlns:a16="http://schemas.microsoft.com/office/drawing/2014/main" id="{20859912-8801-4F8E-B0E5-8E64ADE4FB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99102" y="4761229"/>
                  <a:ext cx="1860884" cy="39681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D5BCD69-4F7C-46E0-A12C-AF4A97443060}"/>
                </a:ext>
              </a:extLst>
            </p:cNvPr>
            <p:cNvSpPr txBox="1"/>
            <p:nvPr/>
          </p:nvSpPr>
          <p:spPr>
            <a:xfrm>
              <a:off x="4708652" y="4716526"/>
              <a:ext cx="31362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(Sunspot Data)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162BA02-5499-4EB5-87DA-5032B46A740E}"/>
              </a:ext>
            </a:extLst>
          </p:cNvPr>
          <p:cNvSpPr txBox="1"/>
          <p:nvPr/>
        </p:nvSpPr>
        <p:spPr>
          <a:xfrm>
            <a:off x="8440416" y="1361990"/>
            <a:ext cx="3751584" cy="15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- Z2</a:t>
            </a:r>
            <a:r>
              <a:rPr lang="ko-KR" altLang="en-US" sz="1600" dirty="0"/>
              <a:t>의 시계열도 → 분산 안정화 필요 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en-US" altLang="ko-KR" sz="1600" dirty="0"/>
              <a:t>log </a:t>
            </a:r>
            <a:r>
              <a:rPr lang="ko-KR" altLang="en-US" sz="1600" dirty="0"/>
              <a:t>변환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/>
              <a:t>Log(Z2(t))</a:t>
            </a:r>
            <a:r>
              <a:rPr lang="ko-KR" altLang="en-US" sz="1600" dirty="0"/>
              <a:t>의 시계열도 </a:t>
            </a:r>
            <a:r>
              <a:rPr lang="en-US" altLang="ko-KR" sz="1600" dirty="0"/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: </a:t>
            </a:r>
            <a:r>
              <a:rPr lang="ko-KR" altLang="en-US" sz="1600" dirty="0"/>
              <a:t>특별한 추세는 없지만 계절성 존재 </a:t>
            </a:r>
            <a:endParaRPr lang="en-US" altLang="ko-KR" sz="16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E2DB10F-0F60-4351-8B72-20F3B804C24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94" r="3742" b="4038"/>
          <a:stretch/>
        </p:blipFill>
        <p:spPr>
          <a:xfrm>
            <a:off x="52375" y="638865"/>
            <a:ext cx="4033395" cy="276969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F1487E0-1BD8-4458-9EAE-F1EF52A70947}"/>
              </a:ext>
            </a:extLst>
          </p:cNvPr>
          <p:cNvSpPr txBox="1"/>
          <p:nvPr/>
        </p:nvSpPr>
        <p:spPr>
          <a:xfrm>
            <a:off x="3977988" y="1731323"/>
            <a:ext cx="65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→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3CEAAB84-50E9-4958-B343-D826744138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4353" y="791182"/>
            <a:ext cx="3926063" cy="261737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676A9DDE-9824-4BC8-9305-AE6689092D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519254"/>
            <a:ext cx="4231048" cy="282069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7CCB610-204D-4A06-B231-ED97B34ED915}"/>
              </a:ext>
            </a:extLst>
          </p:cNvPr>
          <p:cNvSpPr txBox="1"/>
          <p:nvPr/>
        </p:nvSpPr>
        <p:spPr>
          <a:xfrm>
            <a:off x="7955978" y="4323002"/>
            <a:ext cx="4231048" cy="1891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/>
              <a:t>Log(Z2(t))</a:t>
            </a:r>
            <a:r>
              <a:rPr lang="ko-KR" altLang="en-US" sz="1600" dirty="0"/>
              <a:t>의 </a:t>
            </a:r>
            <a:r>
              <a:rPr lang="en-US" altLang="ko-KR" sz="1600" dirty="0"/>
              <a:t>ACF 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: s=12</a:t>
            </a:r>
            <a:r>
              <a:rPr lang="ko-KR" altLang="en-US" sz="1600" dirty="0"/>
              <a:t>의</a:t>
            </a:r>
            <a:r>
              <a:rPr lang="en-US" altLang="ko-KR" sz="1600" dirty="0"/>
              <a:t> </a:t>
            </a:r>
            <a:r>
              <a:rPr lang="ko-KR" altLang="en-US" sz="1600" dirty="0"/>
              <a:t>배수 차수 유의 </a:t>
            </a:r>
            <a:r>
              <a:rPr lang="en-US" altLang="ko-KR" sz="1600" dirty="0"/>
              <a:t>&amp; </a:t>
            </a:r>
            <a:r>
              <a:rPr lang="ko-KR" altLang="en-US" sz="1600" dirty="0"/>
              <a:t>느리게 감소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/>
              <a:t>Log(Z2(t))</a:t>
            </a:r>
            <a:r>
              <a:rPr lang="ko-KR" altLang="en-US" sz="1600" dirty="0"/>
              <a:t>의 </a:t>
            </a:r>
            <a:r>
              <a:rPr lang="en-US" altLang="ko-KR" sz="1600" dirty="0"/>
              <a:t>PACF : Cut off After lag 2</a:t>
            </a:r>
          </a:p>
          <a:p>
            <a:pPr marL="285750" indent="-285750"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en-US" altLang="ko-KR" sz="1600" dirty="0"/>
              <a:t>Non-Stationary</a:t>
            </a:r>
            <a:r>
              <a:rPr lang="ko-KR" altLang="en-US" sz="1600" dirty="0"/>
              <a:t> </a:t>
            </a:r>
            <a:r>
              <a:rPr lang="en-US" altLang="ko-KR" sz="1600" dirty="0"/>
              <a:t>,</a:t>
            </a:r>
            <a:r>
              <a:rPr lang="ko-KR" altLang="en-US" sz="1600" dirty="0"/>
              <a:t> 계절 차분 필요</a:t>
            </a:r>
            <a:r>
              <a:rPr lang="en-US" altLang="ko-KR" sz="1600" dirty="0"/>
              <a:t> </a:t>
            </a:r>
          </a:p>
          <a:p>
            <a:pPr>
              <a:lnSpc>
                <a:spcPct val="150000"/>
              </a:lnSpc>
            </a:pPr>
            <a:r>
              <a:rPr lang="ko-KR" altLang="en-US" sz="1600" b="1" dirty="0"/>
              <a:t>∴ </a:t>
            </a:r>
            <a:r>
              <a:rPr lang="en-US" altLang="ko-KR" sz="1600" b="1" dirty="0"/>
              <a:t>ARIMA(2,0,0)x(0,1,0), s = 12 </a:t>
            </a:r>
            <a:r>
              <a:rPr lang="ko-KR" altLang="en-US" sz="1600" b="1" dirty="0"/>
              <a:t>적합</a:t>
            </a:r>
            <a:endParaRPr lang="en-US" altLang="ko-KR" sz="1600" b="1" dirty="0"/>
          </a:p>
        </p:txBody>
      </p:sp>
    </p:spTree>
    <p:extLst>
      <p:ext uri="{BB962C8B-B14F-4D97-AF65-F5344CB8AC3E}">
        <p14:creationId xmlns:p14="http://schemas.microsoft.com/office/powerpoint/2010/main" val="2967855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그림 68">
            <a:extLst>
              <a:ext uri="{FF2B5EF4-FFF2-40B4-BE49-F238E27FC236}">
                <a16:creationId xmlns:a16="http://schemas.microsoft.com/office/drawing/2014/main" id="{86EA8232-E775-437E-834D-D58061278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18" y="338554"/>
            <a:ext cx="2695575" cy="168592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D616103-CF4B-457F-96CF-02CF5AE899EA}"/>
              </a:ext>
            </a:extLst>
          </p:cNvPr>
          <p:cNvSpPr txBox="1"/>
          <p:nvPr/>
        </p:nvSpPr>
        <p:spPr>
          <a:xfrm>
            <a:off x="0" y="0"/>
            <a:ext cx="55676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&lt; ARIMA(2,0,0)x(0,1,0), s = 12 Process &gt; </a:t>
            </a:r>
            <a:endParaRPr lang="ko-KR" altLang="en-US" sz="16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7E111D-3F32-4D65-9C1B-EBD481D2AE46}"/>
              </a:ext>
            </a:extLst>
          </p:cNvPr>
          <p:cNvSpPr txBox="1"/>
          <p:nvPr/>
        </p:nvSpPr>
        <p:spPr>
          <a:xfrm>
            <a:off x="245109" y="2134159"/>
            <a:ext cx="10119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- </a:t>
            </a:r>
            <a:r>
              <a:rPr lang="ko-KR" altLang="en-US" sz="1600" dirty="0"/>
              <a:t>상수가 유의하지 않고</a:t>
            </a:r>
            <a:r>
              <a:rPr lang="en-US" altLang="ko-KR" sz="1600" dirty="0"/>
              <a:t>, </a:t>
            </a:r>
            <a:r>
              <a:rPr lang="ko-KR" altLang="en-US" sz="1600" dirty="0"/>
              <a:t>카이</a:t>
            </a:r>
            <a:r>
              <a:rPr lang="en-US" altLang="ko-KR" sz="1600" dirty="0"/>
              <a:t>-</a:t>
            </a:r>
            <a:r>
              <a:rPr lang="ko-KR" altLang="en-US" sz="1600" dirty="0"/>
              <a:t>제곱 통계량을 보면 모형이 유의하지 않음을 확인할 수 있다</a:t>
            </a:r>
            <a:r>
              <a:rPr lang="en-US" altLang="ko-KR" sz="1600" dirty="0"/>
              <a:t>. </a:t>
            </a:r>
            <a:endParaRPr lang="ko-KR" altLang="en-US" sz="16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1733D17-8E7C-4ED4-BB20-B2693351D698}"/>
              </a:ext>
            </a:extLst>
          </p:cNvPr>
          <p:cNvSpPr txBox="1"/>
          <p:nvPr/>
        </p:nvSpPr>
        <p:spPr>
          <a:xfrm>
            <a:off x="245109" y="5934671"/>
            <a:ext cx="10119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600" dirty="0" err="1"/>
              <a:t>잔차의</a:t>
            </a:r>
            <a:r>
              <a:rPr lang="ko-KR" altLang="en-US" sz="1600" dirty="0"/>
              <a:t> </a:t>
            </a:r>
            <a:r>
              <a:rPr lang="en-US" altLang="ko-KR" sz="1600" dirty="0"/>
              <a:t>ACF :  </a:t>
            </a:r>
            <a:r>
              <a:rPr lang="ko-KR" altLang="en-US" sz="1600" dirty="0"/>
              <a:t>지수적으로 감소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 err="1"/>
              <a:t>잔차의</a:t>
            </a:r>
            <a:r>
              <a:rPr lang="ko-KR" altLang="en-US" sz="1600" dirty="0"/>
              <a:t> </a:t>
            </a:r>
            <a:r>
              <a:rPr lang="en-US" altLang="ko-KR" sz="1600" dirty="0"/>
              <a:t>PACF : </a:t>
            </a:r>
            <a:r>
              <a:rPr lang="ko-KR" altLang="en-US" sz="1600" dirty="0"/>
              <a:t>계절 주기 </a:t>
            </a:r>
            <a:r>
              <a:rPr lang="en-US" altLang="ko-KR" sz="1600" dirty="0"/>
              <a:t>( 12, 24, 36 ) </a:t>
            </a:r>
            <a:r>
              <a:rPr lang="ko-KR" altLang="en-US" sz="1600" dirty="0"/>
              <a:t>에서 유의</a:t>
            </a:r>
            <a:r>
              <a:rPr lang="en-US" altLang="ko-KR" sz="1600" dirty="0"/>
              <a:t>=&gt; SAR(3)</a:t>
            </a:r>
            <a:r>
              <a:rPr lang="ko-KR" altLang="en-US" sz="1600" dirty="0"/>
              <a:t> 모형 추가로 적합</a:t>
            </a:r>
            <a:r>
              <a:rPr lang="en-US" altLang="ko-KR" sz="1600" dirty="0"/>
              <a:t> </a:t>
            </a:r>
            <a:endParaRPr lang="ko-KR" altLang="en-US" sz="1600" dirty="0"/>
          </a:p>
        </p:txBody>
      </p:sp>
      <p:pic>
        <p:nvPicPr>
          <p:cNvPr id="71" name="그림 70">
            <a:extLst>
              <a:ext uri="{FF2B5EF4-FFF2-40B4-BE49-F238E27FC236}">
                <a16:creationId xmlns:a16="http://schemas.microsoft.com/office/drawing/2014/main" id="{1CA5F9EB-7942-4326-B052-29CE10486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726" y="393394"/>
            <a:ext cx="4391025" cy="1685925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FE7AEA49-FFC3-47A2-BF2E-671BC621CA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718" y="2617677"/>
            <a:ext cx="4671234" cy="3114156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1065E4A2-8887-46BB-B5DC-A77BB15BEA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2952" y="2617677"/>
            <a:ext cx="4671234" cy="311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403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>
            <a:extLst>
              <a:ext uri="{FF2B5EF4-FFF2-40B4-BE49-F238E27FC236}">
                <a16:creationId xmlns:a16="http://schemas.microsoft.com/office/drawing/2014/main" id="{FB024F48-5349-496D-91FF-DE282E6FC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02" y="253862"/>
            <a:ext cx="2809875" cy="2105025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587E2385-B26D-4F5C-9DA7-E4C81BCE6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4427" y="264489"/>
            <a:ext cx="4391025" cy="1685925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F5470029-73DA-4659-8A31-5B8EDE334C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4677" y="297891"/>
            <a:ext cx="1809750" cy="15811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D920ED9-379B-4D5E-A303-35A66789E6B7}"/>
              </a:ext>
            </a:extLst>
          </p:cNvPr>
          <p:cNvSpPr txBox="1"/>
          <p:nvPr/>
        </p:nvSpPr>
        <p:spPr>
          <a:xfrm>
            <a:off x="290308" y="2299151"/>
            <a:ext cx="10119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- </a:t>
            </a:r>
            <a:r>
              <a:rPr lang="ko-KR" altLang="en-US" sz="1600" dirty="0"/>
              <a:t>모든 계수가 유의하고</a:t>
            </a:r>
            <a:r>
              <a:rPr lang="en-US" altLang="ko-KR" sz="1600" dirty="0"/>
              <a:t>, </a:t>
            </a:r>
            <a:r>
              <a:rPr lang="ko-KR" altLang="en-US" sz="1600" dirty="0"/>
              <a:t>카이</a:t>
            </a:r>
            <a:r>
              <a:rPr lang="en-US" altLang="ko-KR" sz="1600" dirty="0"/>
              <a:t>-</a:t>
            </a:r>
            <a:r>
              <a:rPr lang="ko-KR" altLang="en-US" sz="1600" dirty="0"/>
              <a:t>제곱 통계량을 통해 </a:t>
            </a:r>
            <a:r>
              <a:rPr lang="en-US" altLang="ko-KR" sz="1600" dirty="0"/>
              <a:t>12</a:t>
            </a:r>
            <a:r>
              <a:rPr lang="ko-KR" altLang="en-US" sz="1600" dirty="0"/>
              <a:t>번째 시차까지 모형이 유의함을 알 수 있다</a:t>
            </a:r>
            <a:r>
              <a:rPr lang="en-US" altLang="ko-KR" sz="1600" dirty="0"/>
              <a:t>. </a:t>
            </a:r>
            <a:endParaRPr lang="ko-KR" alt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947C8C-08FB-4142-8318-CE573679AA32}"/>
              </a:ext>
            </a:extLst>
          </p:cNvPr>
          <p:cNvSpPr txBox="1"/>
          <p:nvPr/>
        </p:nvSpPr>
        <p:spPr>
          <a:xfrm>
            <a:off x="0" y="0"/>
            <a:ext cx="55676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&lt; ARIMA(2,0,0)x(3,1,0), s = 12 Process &gt; </a:t>
            </a:r>
            <a:endParaRPr lang="ko-KR" altLang="en-US" sz="1600" b="1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37141A9C-4836-417D-9B6F-C5DD639D50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588" y="2637705"/>
            <a:ext cx="4792503" cy="3195002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F236953A-D28A-4FD1-B454-A79CB75F7D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0091" y="2637705"/>
            <a:ext cx="4792503" cy="319500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0DF0833-2CAD-4E45-9D28-FA35D94E4EFB}"/>
                  </a:ext>
                </a:extLst>
              </p:cNvPr>
              <p:cNvSpPr txBox="1"/>
              <p:nvPr/>
            </p:nvSpPr>
            <p:spPr>
              <a:xfrm>
                <a:off x="270815" y="5721197"/>
                <a:ext cx="11348755" cy="11089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잔차의 </a:t>
                </a:r>
                <a:r>
                  <a:rPr lang="en-US" altLang="ko-KR" sz="1600" dirty="0"/>
                  <a:t>ACF</a:t>
                </a:r>
                <a:r>
                  <a:rPr lang="ko-KR" altLang="en-US" sz="1600" dirty="0"/>
                  <a:t>와 </a:t>
                </a:r>
                <a:r>
                  <a:rPr lang="en-US" altLang="ko-KR" sz="1600" dirty="0"/>
                  <a:t>PACF </a:t>
                </a:r>
                <a:r>
                  <a:rPr lang="ko-KR" altLang="en-US" sz="1600" dirty="0"/>
                  <a:t>모두 신뢰구간에 포함된다고 볼 수 있으므로 </a:t>
                </a:r>
                <a:r>
                  <a:rPr lang="ko-KR" altLang="en-US" sz="1600" dirty="0" err="1"/>
                  <a:t>잔차는</a:t>
                </a:r>
                <a:r>
                  <a:rPr lang="ko-KR" altLang="en-US" sz="1600" dirty="0"/>
                  <a:t> </a:t>
                </a:r>
                <a:r>
                  <a:rPr lang="en-US" altLang="ko-KR" sz="1600" dirty="0"/>
                  <a:t>White Noise Process</a:t>
                </a:r>
                <a:r>
                  <a:rPr lang="ko-KR" altLang="en-US" sz="1600" dirty="0"/>
                  <a:t>를 </a:t>
                </a:r>
                <a:r>
                  <a:rPr lang="ko-KR" altLang="en-US" sz="1600" dirty="0" err="1"/>
                  <a:t>따른다고</a:t>
                </a:r>
                <a:r>
                  <a:rPr lang="ko-KR" altLang="en-US" sz="1600" dirty="0"/>
                  <a:t> 할 수 있다</a:t>
                </a:r>
                <a:r>
                  <a:rPr lang="en-US" altLang="ko-KR" sz="1600" dirty="0"/>
                  <a:t>.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최종적으로 데이터는 </a:t>
                </a:r>
                <a:r>
                  <a:rPr lang="en-US" altLang="ko-KR" sz="1600" dirty="0"/>
                  <a:t>ARIMA(2,0,0)x(3,1,0) s</a:t>
                </a:r>
                <a:r>
                  <a:rPr lang="ko-KR" altLang="en-US" sz="1600" dirty="0"/>
                  <a:t> </a:t>
                </a:r>
                <a:r>
                  <a:rPr lang="en-US" altLang="ko-KR" sz="1600" dirty="0"/>
                  <a:t>=</a:t>
                </a:r>
                <a:r>
                  <a:rPr lang="ko-KR" altLang="en-US" sz="1600" dirty="0"/>
                  <a:t> </a:t>
                </a:r>
                <a:r>
                  <a:rPr lang="en-US" altLang="ko-KR" sz="1600" dirty="0"/>
                  <a:t>12</a:t>
                </a:r>
                <a:r>
                  <a:rPr lang="ko-KR" altLang="en-US" sz="1600" dirty="0"/>
                  <a:t> </a:t>
                </a:r>
                <a:r>
                  <a:rPr lang="en-US" altLang="ko-KR" sz="1600" dirty="0"/>
                  <a:t>Process</a:t>
                </a:r>
                <a:r>
                  <a:rPr lang="ko-KR" altLang="en-US" sz="1600" dirty="0"/>
                  <a:t>를 </a:t>
                </a:r>
                <a:r>
                  <a:rPr lang="ko-KR" altLang="en-US" sz="1600" dirty="0" err="1"/>
                  <a:t>따른다고</a:t>
                </a:r>
                <a:r>
                  <a:rPr lang="ko-KR" altLang="en-US" sz="1600" dirty="0"/>
                  <a:t> 할 수 있다</a:t>
                </a:r>
                <a:r>
                  <a:rPr lang="en-US" altLang="ko-KR" sz="1600" dirty="0"/>
                  <a:t>.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1−0.9981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1+0.3409</m:t>
                        </m:r>
                        <m:sSup>
                          <m:s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1+0.4788</m:t>
                        </m:r>
                        <m:sSup>
                          <m:s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1+0.2908</m:t>
                        </m:r>
                        <m:sSup>
                          <m:s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24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1+0.3683</m:t>
                        </m:r>
                        <m:sSup>
                          <m:s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36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𝐿𝑜𝑔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ko-KR" sz="1600" dirty="0"/>
              </a:p>
              <a:p>
                <a:r>
                  <a:rPr lang="en-US" altLang="ko-KR" sz="1600" dirty="0"/>
                  <a:t>          (0..0796)	  (0.0792) 	(0.0784)	     (0.0884) 	(0.0818)</a:t>
                </a:r>
                <a:endParaRPr lang="ko-KR" altLang="en-US" sz="16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0DF0833-2CAD-4E45-9D28-FA35D94E4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815" y="5721197"/>
                <a:ext cx="11348755" cy="1108958"/>
              </a:xfrm>
              <a:prstGeom prst="rect">
                <a:avLst/>
              </a:prstGeom>
              <a:blipFill>
                <a:blip r:embed="rId7"/>
                <a:stretch>
                  <a:fillRect l="-376" t="-3867" b="-66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1515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573</Words>
  <Application>Microsoft Office PowerPoint</Application>
  <PresentationFormat>와이드스크린</PresentationFormat>
  <Paragraphs>59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맑은 고딕</vt:lpstr>
      <vt:lpstr>Arial</vt:lpstr>
      <vt:lpstr>Cambria Math</vt:lpstr>
      <vt:lpstr>Symbol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User</dc:creator>
  <cp:lastModifiedBy>마 민경</cp:lastModifiedBy>
  <cp:revision>7</cp:revision>
  <dcterms:created xsi:type="dcterms:W3CDTF">2020-11-09T08:44:15Z</dcterms:created>
  <dcterms:modified xsi:type="dcterms:W3CDTF">2021-11-21T20:34:11Z</dcterms:modified>
</cp:coreProperties>
</file>